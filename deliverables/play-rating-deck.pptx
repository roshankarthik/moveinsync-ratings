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swer" id="{c288e1ad-e66a-3058-1cad-f8c96713b799}">
          <p14:sldIdLst>
            <p14:sldId id="256"/>
            <p14:sldId id="257"/>
          </p14:sldIdLst>
        </p14:section>
        <p14:section name="Why" id="{2241d146-3273-f614-7fce-039d7a6be4ab}">
          <p14:sldIdLst>
            <p14:sldId id="258"/>
            <p14:sldId id="259"/>
            <p14:sldId id="260"/>
            <p14:sldId id="261"/>
          </p14:sldIdLst>
        </p14:section>
        <p14:section name="Plan" id="{fc908627-a0a1-00de-88d5-98f9d37e9b9c}">
          <p14:sldIdLst>
            <p14:sldId id="262"/>
            <p14:sldId id="263"/>
            <p14:sldId id="264"/>
          </p14:sldIdLst>
        </p14:section>
        <p14:section name="Measure" id="{be0182dd-12b1-5084-875f-bc5741290d67}">
          <p14:sldIdLst>
            <p14:sldId id="265"/>
            <p14:sldId id="266"/>
          </p14:sldIdLst>
        </p14:section>
        <p14:section name="Close" id="{7328074a-c4ce-4c1d-1c24-346fdf4abc8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4A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4A5C"/>
                </a:solidFill>
                <a:latin typeface="+mn-lt"/>
              </a:rPr>
              <a:t>Average stars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stars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0&quot;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46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Ratings with no review</c:v>
                  </c:pt>
                  <c:pt idx="1">
                    <c:v>Written reviews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4.91</c:v>
                </c:pt>
                <c:pt idx="1">
                  <c:v>3.61</c:v>
                </c:pt>
              </c:numCache>
            </c:numRef>
          </c:val>
        </c:ser>
        <c:dLbls>
          <c:numFmt formatCode="0.00&quot;★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D4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A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A5C"/>
                </a:solidFill>
                <a:latin typeface="+mn-lt"/>
              </a:rPr>
              <a:t>Stars of the 365-day written-review average lost to each issue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Stars lost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-0.000&quot;★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A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Cab location wrong or lagging</c:v>
                  </c:pt>
                  <c:pt idx="1">
                    <c:v>Long routes / bad clubbing</c:v>
                  </c:pt>
                  <c:pt idx="2">
                    <c:v>Slow to load / hangs</c:v>
                  </c:pt>
                  <c:pt idx="3">
                    <c:v>Frequent logout / re-login</c:v>
                  </c:pt>
                  <c:pt idx="4">
                    <c:v>Hard to use / new UI worse</c:v>
                  </c:pt>
                  <c:pt idx="5">
                    <c:v>Login OTP not received</c:v>
                  </c:pt>
                  <c:pt idx="6">
                    <c:v>Helpdesk unhelpful / complaints ignored</c:v>
                  </c:pt>
                  <c:pt idx="7">
                    <c:v>Crash, blank screen or won't open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0.039</c:v>
                </c:pt>
                <c:pt idx="1">
                  <c:v>0.041</c:v>
                </c:pt>
                <c:pt idx="2">
                  <c:v>0.045</c:v>
                </c:pt>
                <c:pt idx="3">
                  <c:v>0.046</c:v>
                </c:pt>
                <c:pt idx="4">
                  <c:v>0.052</c:v>
                </c:pt>
                <c:pt idx="5">
                  <c:v>0.053</c:v>
                </c:pt>
                <c:pt idx="6">
                  <c:v>0.054</c:v>
                </c:pt>
                <c:pt idx="7">
                  <c:v>0.09</c:v>
                </c:pt>
              </c:numCache>
            </c:numRef>
          </c:val>
        </c:ser>
        <c:dLbls>
          <c:numFmt formatCode="-0.000&quot;★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D4A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A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A5C"/>
                </a:solidFill>
                <a:latin typeface="+mn-lt"/>
              </a:rPr>
              <a:t>Share of reviews answered, by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 answered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A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2024Q1</c:v>
                  </c:pt>
                  <c:pt idx="1">
                    <c:v>2024Q2</c:v>
                  </c:pt>
                  <c:pt idx="2">
                    <c:v>2024Q3</c:v>
                  </c:pt>
                  <c:pt idx="3">
                    <c:v>2024Q4</c:v>
                  </c:pt>
                  <c:pt idx="4">
                    <c:v>2025Q1</c:v>
                  </c:pt>
                  <c:pt idx="5">
                    <c:v>2025Q2</c:v>
                  </c:pt>
                  <c:pt idx="6">
                    <c:v>2025Q3</c:v>
                  </c:pt>
                  <c:pt idx="7">
                    <c:v>2025Q4</c:v>
                  </c:pt>
                  <c:pt idx="8">
                    <c:v>2026Q1</c:v>
                  </c:pt>
                  <c:pt idx="9">
                    <c:v>2026Q2</c:v>
                  </c:pt>
                  <c:pt idx="10">
                    <c:v>2026Q3</c:v>
                  </c:pt>
                  <c:pt idx="11">
                    <c:v>2026Q4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0.975</c:v>
                </c:pt>
                <c:pt idx="1">
                  <c:v>0.53</c:v>
                </c:pt>
                <c:pt idx="2">
                  <c:v>0.018</c:v>
                </c:pt>
                <c:pt idx="3">
                  <c:v>0.014</c:v>
                </c:pt>
                <c:pt idx="4">
                  <c:v>0.028</c:v>
                </c:pt>
                <c:pt idx="5">
                  <c:v>0.014</c:v>
                </c:pt>
                <c:pt idx="6">
                  <c:v>0.037</c:v>
                </c:pt>
                <c:pt idx="7">
                  <c:v>0.101</c:v>
                </c:pt>
                <c:pt idx="8">
                  <c:v>0.018</c:v>
                </c:pt>
                <c:pt idx="9">
                  <c:v>0.005</c:v>
                </c:pt>
                <c:pt idx="10">
                  <c:v>0.004</c:v>
                </c:pt>
                <c:pt idx="11">
                  <c:v>0.012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3D4A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4A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D4A5C"/>
                </a:solidFill>
                <a:latin typeface="+mn-lt"/>
              </a:rPr>
              <a:t>Store rating if the 1–2★ share of ratings changed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 rating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0&quot;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Today</c:v>
                  </c:pt>
                  <c:pt idx="1">
                    <c:v>Plan works halfway</c:v>
                  </c:pt>
                  <c:pt idx="2">
                    <c:v>Plan works fully</c:v>
                  </c:pt>
                  <c:pt idx="3">
                    <c:v>Safetrax Commuter's 1–2★ share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4.64</c:v>
                </c:pt>
                <c:pt idx="1">
                  <c:v>4.69</c:v>
                </c:pt>
                <c:pt idx="2">
                  <c:v>4.73</c:v>
                </c:pt>
                <c:pt idx="3">
                  <c:v>4.74</c:v>
                </c:pt>
              </c:numCache>
            </c:numRef>
          </c:val>
        </c:ser>
        <c:dLbls>
          <c:numFmt formatCode="0.00&quot;★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85"/>
          <c:min val="4.5"/>
        </c:scaling>
        <c:delete val="0"/>
        <c:axPos val="l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a snapshot of the live site on 11 Oct 2026. Every figure was computed from the review data when the deck was built; the site keeps updating.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4.64★ vs Safetrax Commuter 4.72★. The gap is in 1-star ratings (6.4% vs 3.8%). Replies: 98% answered in 2024Q1, 0.6% in the last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rating is set by how many 1-2 star written reviews arrive and how many happy riders rate at all. Fix the first, ask the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Crash, blank screen or won't open: 13% of 1-2 star reviews (n=205, 95% CI 9%-18%), owner Mobile engineering
Helpdesk unhelpful / complaints ignored: 9% of 1-2 star reviews (n=205, 95% CI 6%-14%), owner Operations, vendors &amp; helpdesk
Login OTP not received: 5% of 1-2 star reviews (n=205, 95% CI 3%-9%), owner Platform / backend
Hard to use / new UI worse: 7% of 1-2 star reviews (n=205, 95% CI 4%-11%), owner Product &amp; design
Frequent logout / re-login: 2% of 1-2 star reviews (n=205, 95% CI 1%-5%), owner Product &amp; design
Slow to load / hangs: 7% of 1-2 star reviews (n=205, 95% CI 4%-11%), owner Mobile engineering
Long routes / bad clubbing: 6% of 1-2 star reviews (n=205, 95% CI 4%-11%), owner Routing &amp; scheduling team
Cab location wrong or lagging: 6% of 1-2 star reviews (n=205, 95% CI 3%-10%), owner Platform / backend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quarter at 90%+ was 2024Q1; since 2024Q3 no quarter has been above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"change" on this slide is a two-proportion z-test; only p &lt; 0.05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MIS-01 (Highest): Answer every 1–2★ review within 2 working days, starting with the backlog. Owner: App support lead (with Product for routing).
MIS-02 (Highest): Triage crashes in release 12.19.0 with Android vitals and decide hotfix vs. rollback. Owner: Mobile engineering lead.
MIS-03 (High): Staged rollout with halt rules for every release. Owner: Mobile engineering lead + QA.
MIS-04 (Highest): Fix the "not downloaded from Play Store" false block. Owner: Mobile engineering + Platform (integrity check).
MIS-05 (Highest): Stability — fix top crash clusters and replace blank screens with a recoverable screen. Owner: Mobile engineering.
MIS-06 (High): Sign-in that works — OTP delivery fallback and fewer forced logouts. Owner: Platform / backend (OTP) + Product &amp; design (session rules).
MIS-07 (High): Boarding — show the OTP first and move the seat-belt check after it. Owner: Product &amp; design + Mobile engineering.
MIS-08 (High): Ask happy riders for a rating — in-app review prompt after good trips. Owner: Mobile engineering + Product.
MIS-09 (Medium): Find out why notifications are missing or late. Owner: Platform / backend.
MIS-10 (Medium): Live tracking you can trust — fresher cab location and an "updated X s ago" label. Owner: Platform / backend + Routing (ETA).
MIS-11 (Medium): My trips — bookings always visible and confirmed. Owner: Product &amp; design + Platform /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OPS-01: Follow up every safety concern raised in a review within 24 hours. Owner: Safety &amp; compliance.
OPS-02: Close the loop on complaints — ticket number, status and resolution in the app. Owner: Operations &amp; helpdesk + Product.
OPS-03: Vendor scorecards for late cabs, no-shows and driver behaviour. Owner: Operations &amp; vendors.
OPS-04: Review routing rules — long routes and clubbing. Owner: Routing &amp; scheduling team + account teams.
OPS-05: Account reviews with named employers — calls disabled, cut-offs, forced logout. Owner: Account management + employer transport desks.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4.64★ (model reproduces 4.64★). Halfway 4.69★, fully 4.73★, peer parity 4.74★.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recorded 09 Oct 2026. The monitor compares the latest 90-day share of 1-2 star reviews naming each fix's issue against its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labels spot-checked 13 Oct 2026: 40 re-read, 1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Employer settings are invisible from outside, and Google's rating formula is private, so scenarios stay directional.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MoveInSync (employee app) · Google Play reviews to 11 Oct 2026 · figures computed from the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fix first to raise the employee app's Play Store rating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MoveInSync (employee app) · Google Play reviews to 11 Oct 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Karthik · Forward Deployed Engineer case study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version, refreshed every 2 hours: https://roshankarthik.github.io/moveinsync-ratings/</a:t>
            </a:r>
            <a:endParaRPr lang="en-US" sz="1800" dirty="0"/>
          </a:p>
        </p:txBody>
      </p:sp>
      <p:pic>
        <p:nvPicPr>
          <p:cNvPr id="4" name="star 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more 1★ ratings than peers, and they go unanswered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stat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5" name="sta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stat 1 value"/>
          <p:cNvSpPr txBox="1"/>
          <p:nvPr/>
        </p:nvSpPr>
        <p:spPr>
          <a:xfrm>
            <a:off x="82296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4.64★</a:t>
            </a:r>
            <a:endParaRPr lang="en-US" sz="5400" dirty="0"/>
          </a:p>
        </p:txBody>
      </p:sp>
      <p:sp>
        <p:nvSpPr>
          <p:cNvPr id="7" name="stat 1 label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rating from 114,880 ratings</a:t>
            </a:r>
            <a:endParaRPr lang="en-US" sz="1500" dirty="0"/>
          </a:p>
        </p:txBody>
      </p:sp>
      <p:sp>
        <p:nvSpPr>
          <p:cNvPr id="8" name="stat 1 context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Safetrax Commuter: 4.72★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429768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tat 2 circl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pic>
        <p:nvPicPr>
          <p:cNvPr id="11" name="sta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2" name="stat 2 value"/>
          <p:cNvSpPr txBox="1"/>
          <p:nvPr/>
        </p:nvSpPr>
        <p:spPr>
          <a:xfrm>
            <a:off x="457200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6.4%</a:t>
            </a:r>
            <a:endParaRPr lang="en-US" sz="5400" dirty="0"/>
          </a:p>
        </p:txBody>
      </p:sp>
      <p:sp>
        <p:nvSpPr>
          <p:cNvPr id="13" name="stat 2 label"/>
          <p:cNvSpPr txBox="1"/>
          <p:nvPr/>
        </p:nvSpPr>
        <p:spPr>
          <a:xfrm>
            <a:off x="457200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ratings are 1★</a:t>
            </a:r>
            <a:endParaRPr lang="en-US" sz="1500" dirty="0"/>
          </a:p>
        </p:txBody>
      </p:sp>
      <p:sp>
        <p:nvSpPr>
          <p:cNvPr id="14" name="stat 2 context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Safetrax Commuter: 3.8%</a:t>
            </a:r>
            <a:endParaRPr lang="en-US" sz="1200" dirty="0"/>
          </a:p>
        </p:txBody>
      </p:sp>
      <p:sp>
        <p:nvSpPr>
          <p:cNvPr id="15" name="stat card 3"/>
          <p:cNvSpPr/>
          <p:nvPr/>
        </p:nvSpPr>
        <p:spPr>
          <a:xfrm>
            <a:off x="804672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stat 3 circle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17" name="sta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8" name="stat 3 value"/>
          <p:cNvSpPr txBox="1"/>
          <p:nvPr/>
        </p:nvSpPr>
        <p:spPr>
          <a:xfrm>
            <a:off x="832104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0.6%</a:t>
            </a:r>
            <a:endParaRPr lang="en-US" sz="5400" dirty="0"/>
          </a:p>
        </p:txBody>
      </p:sp>
      <p:sp>
        <p:nvSpPr>
          <p:cNvPr id="19" name="stat 3 label"/>
          <p:cNvSpPr txBox="1"/>
          <p:nvPr/>
        </p:nvSpPr>
        <p:spPr>
          <a:xfrm>
            <a:off x="83210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answered in the last 90 days</a:t>
            </a:r>
            <a:endParaRPr lang="en-US" sz="1500" dirty="0"/>
          </a:p>
        </p:txBody>
      </p:sp>
      <p:sp>
        <p:nvSpPr>
          <p:cNvPr id="20" name="stat 3 context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Safetrax Commuter answers 100% of its 1–2★ reviews</a:t>
            </a:r>
            <a:endParaRPr lang="en-US" sz="1200" dirty="0"/>
          </a:p>
        </p:txBody>
      </p:sp>
      <p:sp>
        <p:nvSpPr>
          <p:cNvPr id="21" name="answer summary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Costliest problem: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“Crash, blank screen or won't open”, named in 13% of 1–2★ reviews in the last 90 days.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with no release: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1–2★ review, triage the current release with Android vitals, stage rollouts.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in the next releases: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crashes, the false Play Store block and sign-in; ask happy riders for a rating.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ratings are written ones; silent raters are happier</a:t>
            </a:r>
            <a:endParaRPr lang="en-US" sz="3000" dirty="0"/>
          </a:p>
        </p:txBody>
      </p:sp>
      <p:graphicFrame>
        <p:nvGraphicFramePr>
          <p:cNvPr id="3" name="average stars chart" descr=""/>
          <p:cNvGraphicFramePr/>
          <p:nvPr/>
        </p:nvGraphicFramePr>
        <p:xfrm>
          <a:off x="548640" y="141732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oint 1 circle"/>
          <p:cNvSpPr/>
          <p:nvPr/>
        </p:nvSpPr>
        <p:spPr>
          <a:xfrm>
            <a:off x="7040880" y="150876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5" name="poi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4" y="1640434"/>
            <a:ext cx="285293" cy="285293"/>
          </a:xfrm>
          <a:prstGeom prst="rect">
            <a:avLst/>
          </a:prstGeom>
        </p:spPr>
      </p:pic>
      <p:sp>
        <p:nvSpPr>
          <p:cNvPr id="6" name="point 1 value"/>
          <p:cNvSpPr txBox="1"/>
          <p:nvPr/>
        </p:nvSpPr>
        <p:spPr>
          <a:xfrm>
            <a:off x="777240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000" dirty="0"/>
          </a:p>
        </p:txBody>
      </p:sp>
      <p:sp>
        <p:nvSpPr>
          <p:cNvPr id="7" name="point 1 text"/>
          <p:cNvSpPr txBox="1"/>
          <p:nvPr/>
        </p:nvSpPr>
        <p:spPr>
          <a:xfrm>
            <a:off x="7772400" y="2011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ratings come with a written review</a:t>
            </a:r>
            <a:endParaRPr lang="en-US" sz="1400" dirty="0"/>
          </a:p>
        </p:txBody>
      </p:sp>
      <p:sp>
        <p:nvSpPr>
          <p:cNvPr id="8" name="point 2 circle"/>
          <p:cNvSpPr/>
          <p:nvPr/>
        </p:nvSpPr>
        <p:spPr>
          <a:xfrm>
            <a:off x="7040880" y="2971800"/>
            <a:ext cx="548640" cy="548640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pic>
        <p:nvPicPr>
          <p:cNvPr id="9" name="poi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4" y="3103474"/>
            <a:ext cx="285293" cy="285293"/>
          </a:xfrm>
          <a:prstGeom prst="rect">
            <a:avLst/>
          </a:prstGeom>
        </p:spPr>
      </p:pic>
      <p:sp>
        <p:nvSpPr>
          <p:cNvPr id="10" name="point 2 value"/>
          <p:cNvSpPr txBox="1"/>
          <p:nvPr/>
        </p:nvSpPr>
        <p:spPr>
          <a:xfrm>
            <a:off x="777240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000" dirty="0"/>
          </a:p>
        </p:txBody>
      </p:sp>
      <p:sp>
        <p:nvSpPr>
          <p:cNvPr id="11" name="point 2 text"/>
          <p:cNvSpPr txBox="1"/>
          <p:nvPr/>
        </p:nvSpPr>
        <p:spPr>
          <a:xfrm>
            <a:off x="777240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store's 1★ ratings come with a written review</a:t>
            </a:r>
            <a:endParaRPr lang="en-US" sz="1400" dirty="0"/>
          </a:p>
        </p:txBody>
      </p:sp>
      <p:sp>
        <p:nvSpPr>
          <p:cNvPr id="12" name="point 3 circle"/>
          <p:cNvSpPr/>
          <p:nvPr/>
        </p:nvSpPr>
        <p:spPr>
          <a:xfrm>
            <a:off x="7040880" y="4434840"/>
            <a:ext cx="548640" cy="54864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pic>
        <p:nvPicPr>
          <p:cNvPr id="13" name="poi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4" y="4566514"/>
            <a:ext cx="285293" cy="285293"/>
          </a:xfrm>
          <a:prstGeom prst="rect">
            <a:avLst/>
          </a:prstGeom>
        </p:spPr>
      </p:pic>
      <p:sp>
        <p:nvSpPr>
          <p:cNvPr id="14" name="point 3 value"/>
          <p:cNvSpPr txBox="1"/>
          <p:nvPr/>
        </p:nvSpPr>
        <p:spPr>
          <a:xfrm>
            <a:off x="7772400" y="4389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4.91★</a:t>
            </a:r>
            <a:endParaRPr lang="en-US" sz="3000" dirty="0"/>
          </a:p>
        </p:txBody>
      </p:sp>
      <p:sp>
        <p:nvSpPr>
          <p:cNvPr id="15" name="point 3 text"/>
          <p:cNvSpPr txBox="1"/>
          <p:nvPr/>
        </p:nvSpPr>
        <p:spPr>
          <a:xfrm>
            <a:off x="7772400" y="4937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ratings with no review (approximate: Google rescales its counts)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1–2★ reviews, ranked by rating cost</a:t>
            </a:r>
            <a:endParaRPr lang="en-US" sz="3000" dirty="0"/>
          </a:p>
        </p:txBody>
      </p:sp>
      <p:graphicFrame>
        <p:nvGraphicFramePr>
          <p:cNvPr id="3" name="rating cost chart" descr=""/>
          <p:cNvGraphicFramePr/>
          <p:nvPr/>
        </p:nvGraphicFramePr>
        <p:xfrm>
          <a:off x="548640" y="132588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text card"/>
          <p:cNvSpPr/>
          <p:nvPr/>
        </p:nvSpPr>
        <p:spPr>
          <a:xfrm>
            <a:off x="8138160" y="1417320"/>
            <a:ext cx="3474720" cy="4663440"/>
          </a:xfrm>
          <a:prstGeom prst="roundRect">
            <a:avLst>
              <a:gd name="adj" fmla="val 315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app share"/>
          <p:cNvSpPr txBox="1"/>
          <p:nvPr/>
        </p:nvSpPr>
        <p:spPr>
          <a:xfrm>
            <a:off x="8412480" y="1645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4000" dirty="0"/>
          </a:p>
        </p:txBody>
      </p:sp>
      <p:sp>
        <p:nvSpPr>
          <p:cNvPr id="6" name="app share text"/>
          <p:cNvSpPr txBox="1"/>
          <p:nvPr/>
        </p:nvSpPr>
        <p:spPr>
          <a:xfrm>
            <a:off x="84124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769 1–2★ reviews in 365 days are about the app, not the cab service</a:t>
            </a:r>
            <a:endParaRPr lang="en-US" sz="1400" dirty="0"/>
          </a:p>
        </p:txBody>
      </p:sp>
      <p:sp>
        <p:nvSpPr>
          <p:cNvPr id="7" name="defect share"/>
          <p:cNvSpPr txBox="1"/>
          <p:nvPr/>
        </p:nvSpPr>
        <p:spPr>
          <a:xfrm>
            <a:off x="841248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4000" dirty="0"/>
          </a:p>
        </p:txBody>
      </p:sp>
      <p:sp>
        <p:nvSpPr>
          <p:cNvPr id="8" name="defect share text"/>
          <p:cNvSpPr txBox="1"/>
          <p:nvPr/>
        </p:nvSpPr>
        <p:spPr>
          <a:xfrm>
            <a:off x="841248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plain defects: something is broken, not badly designed</a:t>
            </a:r>
            <a:endParaRPr lang="en-US" sz="1400" dirty="0"/>
          </a:p>
        </p:txBody>
      </p:sp>
      <p:sp>
        <p:nvSpPr>
          <p:cNvPr id="9" name="method note"/>
          <p:cNvSpPr txBox="1"/>
          <p:nvPr/>
        </p:nvSpPr>
        <p:spPr>
          <a:xfrm>
            <a:off x="8412480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cost: 1–2★ reviews naming the issue re-scored at the average of reviewers with no complaint; costs add up and are an upper bound on what a fix recovers.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Replies stopped; complaints stay unanswered</a:t>
            </a:r>
            <a:endParaRPr lang="en-US" sz="3000" dirty="0"/>
          </a:p>
        </p:txBody>
      </p:sp>
      <p:graphicFrame>
        <p:nvGraphicFramePr>
          <p:cNvPr id="3" name="reply rate chart" descr=""/>
          <p:cNvGraphicFramePr/>
          <p:nvPr/>
        </p:nvGraphicFramePr>
        <p:xfrm>
          <a:off x="548640" y="1325880"/>
          <a:ext cx="7406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ply card"/>
          <p:cNvSpPr/>
          <p:nvPr/>
        </p:nvSpPr>
        <p:spPr>
          <a:xfrm>
            <a:off x="8321040" y="1417320"/>
            <a:ext cx="3291840" cy="466344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reply circle"/>
          <p:cNvSpPr/>
          <p:nvPr/>
        </p:nvSpPr>
        <p:spPr>
          <a:xfrm>
            <a:off x="8595360" y="164592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6" name="repl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4" y="1777594"/>
            <a:ext cx="285293" cy="285293"/>
          </a:xfrm>
          <a:prstGeom prst="rect">
            <a:avLst/>
          </a:prstGeom>
        </p:spPr>
      </p:pic>
      <p:sp>
        <p:nvSpPr>
          <p:cNvPr id="7" name="reply change"/>
          <p:cNvSpPr txBox="1"/>
          <p:nvPr/>
        </p:nvSpPr>
        <p:spPr>
          <a:xfrm>
            <a:off x="859536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→ 0.6%</a:t>
            </a:r>
            <a:endParaRPr lang="en-US" sz="3200" dirty="0"/>
          </a:p>
        </p:txBody>
      </p:sp>
      <p:sp>
        <p:nvSpPr>
          <p:cNvPr id="8" name="reply detail"/>
          <p:cNvSpPr txBox="1"/>
          <p:nvPr/>
        </p:nvSpPr>
        <p:spPr>
          <a:xfrm>
            <a:off x="8595360" y="3017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 2024Q1, and in the last 90 days (4 of 721). Last reply: 18 Aug 2026.</a:t>
            </a:r>
            <a:endParaRPr lang="en-US" sz="1400" dirty="0"/>
          </a:p>
        </p:txBody>
      </p:sp>
      <p:sp>
        <p:nvSpPr>
          <p:cNvPr id="9" name="peer reply"/>
          <p:cNvSpPr txBox="1"/>
          <p:nvPr/>
        </p:nvSpPr>
        <p:spPr>
          <a:xfrm>
            <a:off x="859536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Safetrax Commuter answers 100% of its 1–2★ reviews.</a:t>
            </a:r>
            <a:endParaRPr lang="en-US" sz="1400" dirty="0"/>
          </a:p>
        </p:txBody>
      </p:sp>
      <p:sp>
        <p:nvSpPr>
          <p:cNvPr id="10" name="reply note"/>
          <p:cNvSpPr txBox="1"/>
          <p:nvPr/>
        </p:nvSpPr>
        <p:spPr>
          <a:xfrm>
            <a:off x="859536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notifies the reviewer of a reply, and they can change their stars.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“Crash, blank screen or won't open” is emerging</a:t>
            </a:r>
            <a:endParaRPr lang="en-US" sz="3000" dirty="0"/>
          </a:p>
        </p:txBody>
      </p:sp>
      <p:sp>
        <p:nvSpPr>
          <p:cNvPr id="3" name="change card 1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change 1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pic>
        <p:nvPicPr>
          <p:cNvPr id="5" name="chan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change 1 value"/>
          <p:cNvSpPr txBox="1"/>
          <p:nvPr/>
        </p:nvSpPr>
        <p:spPr>
          <a:xfrm>
            <a:off x="155448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 vs 10%</a:t>
            </a:r>
            <a:endParaRPr lang="en-US" sz="3000" dirty="0"/>
          </a:p>
        </p:txBody>
      </p:sp>
      <p:sp>
        <p:nvSpPr>
          <p:cNvPr id="7" name="change 1 text"/>
          <p:cNvSpPr txBox="1"/>
          <p:nvPr/>
        </p:nvSpPr>
        <p:spPr>
          <a:xfrm>
            <a:off x="1554480" y="2331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1–2★ reviews name it: last 30 days (14 of 73) vs the 180 before (38 of 399); p = 0.015.</a:t>
            </a:r>
            <a:endParaRPr lang="en-US" sz="1400" dirty="0"/>
          </a:p>
        </p:txBody>
      </p:sp>
      <p:sp>
        <p:nvSpPr>
          <p:cNvPr id="8" name="change card 2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change 2 circle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pic>
        <p:nvPicPr>
          <p:cNvPr id="10" name="chan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823314"/>
            <a:ext cx="285293" cy="285293"/>
          </a:xfrm>
          <a:prstGeom prst="rect">
            <a:avLst/>
          </a:prstGeom>
        </p:spPr>
      </p:pic>
      <p:sp>
        <p:nvSpPr>
          <p:cNvPr id="11" name="change 2 value"/>
          <p:cNvSpPr txBox="1"/>
          <p:nvPr/>
        </p:nvSpPr>
        <p:spPr>
          <a:xfrm>
            <a:off x="717804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 vs 30%</a:t>
            </a:r>
            <a:endParaRPr lang="en-US" sz="3000" dirty="0"/>
          </a:p>
        </p:txBody>
      </p:sp>
      <p:sp>
        <p:nvSpPr>
          <p:cNvPr id="12" name="change 2 text"/>
          <p:cNvSpPr txBox="1"/>
          <p:nvPr/>
        </p:nvSpPr>
        <p:spPr>
          <a:xfrm>
            <a:off x="7178040" y="2331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1–2★ share of written reviews, last 365 days vs the year before; p = 0.004, significant.</a:t>
            </a:r>
            <a:endParaRPr lang="en-US" sz="1400" dirty="0"/>
          </a:p>
        </p:txBody>
      </p:sp>
      <p:sp>
        <p:nvSpPr>
          <p:cNvPr id="13" name="change card 3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change 3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15" name="chan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246474"/>
            <a:ext cx="285293" cy="285293"/>
          </a:xfrm>
          <a:prstGeom prst="rect">
            <a:avLst/>
          </a:prstGeom>
        </p:spPr>
      </p:pic>
      <p:sp>
        <p:nvSpPr>
          <p:cNvPr id="16" name="change 3 value"/>
          <p:cNvSpPr txBox="1"/>
          <p:nvPr/>
        </p:nvSpPr>
        <p:spPr>
          <a:xfrm>
            <a:off x="1554480" y="40965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 vs 27%</a:t>
            </a:r>
            <a:endParaRPr lang="en-US" sz="3000" dirty="0"/>
          </a:p>
        </p:txBody>
      </p:sp>
      <p:sp>
        <p:nvSpPr>
          <p:cNvPr id="17" name="change 3 text"/>
          <p:cNvSpPr txBox="1"/>
          <p:nvPr/>
        </p:nvSpPr>
        <p:spPr>
          <a:xfrm>
            <a:off x="155448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90 days vs the 90 before; p = 0.491, not significant.</a:t>
            </a:r>
            <a:endParaRPr lang="en-US" sz="1400" dirty="0"/>
          </a:p>
        </p:txBody>
      </p:sp>
      <p:sp>
        <p:nvSpPr>
          <p:cNvPr id="18" name="change card 4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change 4 circle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pic>
        <p:nvPicPr>
          <p:cNvPr id="20" name="chang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4246474"/>
            <a:ext cx="285293" cy="285293"/>
          </a:xfrm>
          <a:prstGeom prst="rect">
            <a:avLst/>
          </a:prstGeom>
        </p:spPr>
      </p:pic>
      <p:sp>
        <p:nvSpPr>
          <p:cNvPr id="21" name="change 4 value"/>
          <p:cNvSpPr txBox="1"/>
          <p:nvPr/>
        </p:nvSpPr>
        <p:spPr>
          <a:xfrm>
            <a:off x="7178040" y="40965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29</a:t>
            </a:r>
            <a:endParaRPr lang="en-US" sz="3000" dirty="0"/>
          </a:p>
        </p:txBody>
      </p:sp>
      <p:sp>
        <p:nvSpPr>
          <p:cNvPr id="22" name="change 4 text"/>
          <p:cNvSpPr txBox="1"/>
          <p:nvPr/>
        </p:nvSpPr>
        <p:spPr>
          <a:xfrm>
            <a:off x="717804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flagged worse or “watch” (Bonferroni-corrected). Store version now: 12.19.0.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first: the product plan in three horizons</a:t>
            </a:r>
            <a:endParaRPr lang="en-US" sz="3000" dirty="0"/>
          </a:p>
        </p:txBody>
      </p:sp>
      <p:sp>
        <p:nvSpPr>
          <p:cNvPr id="3" name="horizon now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horizon now dot"/>
          <p:cNvSpPr/>
          <p:nvPr/>
        </p:nvSpPr>
        <p:spPr>
          <a:xfrm>
            <a:off x="822960" y="1600200"/>
            <a:ext cx="292608" cy="292608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sp>
        <p:nvSpPr>
          <p:cNvPr id="5" name="horizon now title"/>
          <p:cNvSpPr txBox="1"/>
          <p:nvPr/>
        </p:nvSpPr>
        <p:spPr>
          <a:xfrm>
            <a:off x="123444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800" dirty="0"/>
          </a:p>
        </p:txBody>
      </p:sp>
      <p:sp>
        <p:nvSpPr>
          <p:cNvPr id="6" name="horizon now tickets"/>
          <p:cNvSpPr txBox="1"/>
          <p:nvPr/>
        </p:nvSpPr>
        <p:spPr>
          <a:xfrm>
            <a:off x="82296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MIS-01  Answer every 1–2★ review within 2 working days, starting with the backlog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MIS-02  Triage crashes in release 12.19.0 with Android vitals and decide hotfix vs. rollback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MIS-03  Staged rollout with halt rules for every release</a:t>
            </a:r>
            <a:endParaRPr lang="en-US" sz="1400" dirty="0"/>
          </a:p>
        </p:txBody>
      </p:sp>
      <p:sp>
        <p:nvSpPr>
          <p:cNvPr id="7" name="horizon next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horizon next dot"/>
          <p:cNvSpPr/>
          <p:nvPr/>
        </p:nvSpPr>
        <p:spPr>
          <a:xfrm>
            <a:off x="4572000" y="1600200"/>
            <a:ext cx="292608" cy="29260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horizon next title"/>
          <p:cNvSpPr txBox="1"/>
          <p:nvPr/>
        </p:nvSpPr>
        <p:spPr>
          <a:xfrm>
            <a:off x="498348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1–2 releases</a:t>
            </a:r>
            <a:endParaRPr lang="en-US" sz="1800" dirty="0"/>
          </a:p>
        </p:txBody>
      </p:sp>
      <p:sp>
        <p:nvSpPr>
          <p:cNvPr id="10" name="horizon next tickets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MIS-04  Fix the "not downloaded from Play Store" false block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MIS-05  Stability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MIS-06  Sign-in that works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MIS-07  Boarding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MIS-08  Ask happy riders for a rating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MIS-09  Find out why notifications are missing or late</a:t>
            </a:r>
            <a:endParaRPr lang="en-US" sz="1400" dirty="0"/>
          </a:p>
        </p:txBody>
      </p:sp>
      <p:sp>
        <p:nvSpPr>
          <p:cNvPr id="11" name="horizon quarter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horizon quarter dot"/>
          <p:cNvSpPr/>
          <p:nvPr/>
        </p:nvSpPr>
        <p:spPr>
          <a:xfrm>
            <a:off x="8321040" y="1600200"/>
            <a:ext cx="292608" cy="29260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horizon quarter title"/>
          <p:cNvSpPr txBox="1"/>
          <p:nvPr/>
        </p:nvSpPr>
        <p:spPr>
          <a:xfrm>
            <a:off x="873252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quarter</a:t>
            </a:r>
            <a:endParaRPr lang="en-US" sz="1800" dirty="0"/>
          </a:p>
        </p:txBody>
      </p:sp>
      <p:sp>
        <p:nvSpPr>
          <p:cNvPr id="14" name="horizon quarter tickets"/>
          <p:cNvSpPr txBox="1"/>
          <p:nvPr/>
        </p:nvSpPr>
        <p:spPr>
          <a:xfrm>
            <a:off x="832104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MIS-10  Live tracking you can trust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MIS-11  My trips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track: fixes outside the app</a:t>
            </a:r>
            <a:endParaRPr lang="en-US" sz="3000" dirty="0"/>
          </a:p>
        </p:txBody>
      </p:sp>
      <p:sp>
        <p:nvSpPr>
          <p:cNvPr id="3" name="ops card OPS-0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ops OPS-01 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</p:sp>
      <p:pic>
        <p:nvPicPr>
          <p:cNvPr id="5" name="ops OPS-0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6" name="ops OPS-01 meta"/>
          <p:cNvSpPr txBox="1"/>
          <p:nvPr/>
        </p:nvSpPr>
        <p:spPr>
          <a:xfrm>
            <a:off x="155448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OPS-01 · This week</a:t>
            </a:r>
            <a:endParaRPr lang="en-US" sz="1100" dirty="0"/>
          </a:p>
        </p:txBody>
      </p:sp>
      <p:sp>
        <p:nvSpPr>
          <p:cNvPr id="7" name="ops OPS-01 title"/>
          <p:cNvSpPr txBox="1"/>
          <p:nvPr/>
        </p:nvSpPr>
        <p:spPr>
          <a:xfrm>
            <a:off x="1554480" y="1783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every safety concern raised in a review within 24 hours</a:t>
            </a:r>
            <a:endParaRPr lang="en-US" sz="1500" dirty="0"/>
          </a:p>
        </p:txBody>
      </p:sp>
      <p:sp>
        <p:nvSpPr>
          <p:cNvPr id="8" name="ops OPS-01 owner"/>
          <p:cNvSpPr txBox="1"/>
          <p:nvPr/>
        </p:nvSpPr>
        <p:spPr>
          <a:xfrm>
            <a:off x="155448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compliance</a:t>
            </a:r>
            <a:endParaRPr lang="en-US" sz="1200" dirty="0"/>
          </a:p>
        </p:txBody>
      </p:sp>
      <p:sp>
        <p:nvSpPr>
          <p:cNvPr id="9" name="ops card OPS-02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ops OPS-02 circle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11" name="ops OPS-0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914754"/>
            <a:ext cx="285293" cy="285293"/>
          </a:xfrm>
          <a:prstGeom prst="rect">
            <a:avLst/>
          </a:prstGeom>
        </p:spPr>
      </p:pic>
      <p:sp>
        <p:nvSpPr>
          <p:cNvPr id="12" name="ops OPS-02 meta"/>
          <p:cNvSpPr txBox="1"/>
          <p:nvPr/>
        </p:nvSpPr>
        <p:spPr>
          <a:xfrm>
            <a:off x="717804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OPS-02 · Next 1–2 releases</a:t>
            </a:r>
            <a:endParaRPr lang="en-US" sz="1100" dirty="0"/>
          </a:p>
        </p:txBody>
      </p:sp>
      <p:sp>
        <p:nvSpPr>
          <p:cNvPr id="13" name="ops OPS-02 title"/>
          <p:cNvSpPr txBox="1"/>
          <p:nvPr/>
        </p:nvSpPr>
        <p:spPr>
          <a:xfrm>
            <a:off x="7178040" y="1783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on complaints</a:t>
            </a:r>
            <a:endParaRPr lang="en-US" sz="1500" dirty="0"/>
          </a:p>
        </p:txBody>
      </p:sp>
      <p:sp>
        <p:nvSpPr>
          <p:cNvPr id="14" name="ops OPS-02 owner"/>
          <p:cNvSpPr txBox="1"/>
          <p:nvPr/>
        </p:nvSpPr>
        <p:spPr>
          <a:xfrm>
            <a:off x="717804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helpdesk + Product</a:t>
            </a:r>
            <a:endParaRPr lang="en-US" sz="1200" dirty="0"/>
          </a:p>
        </p:txBody>
      </p:sp>
      <p:sp>
        <p:nvSpPr>
          <p:cNvPr id="15" name="ops card OPS-0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ops OPS-03 circle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17" name="ops OPS-0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514954"/>
            <a:ext cx="285293" cy="285293"/>
          </a:xfrm>
          <a:prstGeom prst="rect">
            <a:avLst/>
          </a:prstGeom>
        </p:spPr>
      </p:pic>
      <p:sp>
        <p:nvSpPr>
          <p:cNvPr id="18" name="ops OPS-03 meta"/>
          <p:cNvSpPr txBox="1"/>
          <p:nvPr/>
        </p:nvSpPr>
        <p:spPr>
          <a:xfrm>
            <a:off x="1554480" y="3136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OPS-03 · This quarter</a:t>
            </a:r>
            <a:endParaRPr lang="en-US" sz="1100" dirty="0"/>
          </a:p>
        </p:txBody>
      </p:sp>
      <p:sp>
        <p:nvSpPr>
          <p:cNvPr id="19" name="ops OPS-03 title"/>
          <p:cNvSpPr txBox="1"/>
          <p:nvPr/>
        </p:nvSpPr>
        <p:spPr>
          <a:xfrm>
            <a:off x="1554480" y="3383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scorecards for late cabs, no-shows and driver behaviour</a:t>
            </a:r>
            <a:endParaRPr lang="en-US" sz="1500" dirty="0"/>
          </a:p>
        </p:txBody>
      </p:sp>
      <p:sp>
        <p:nvSpPr>
          <p:cNvPr id="20" name="ops OPS-03 owner"/>
          <p:cNvSpPr txBox="1"/>
          <p:nvPr/>
        </p:nvSpPr>
        <p:spPr>
          <a:xfrm>
            <a:off x="155448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vendors</a:t>
            </a:r>
            <a:endParaRPr lang="en-US" sz="1200" dirty="0"/>
          </a:p>
        </p:txBody>
      </p:sp>
      <p:sp>
        <p:nvSpPr>
          <p:cNvPr id="21" name="ops card OPS-04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ops OPS-04 circle"/>
          <p:cNvSpPr/>
          <p:nvPr/>
        </p:nvSpPr>
        <p:spPr>
          <a:xfrm>
            <a:off x="6446520" y="338328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23" name="ops OPS-0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3514954"/>
            <a:ext cx="285293" cy="285293"/>
          </a:xfrm>
          <a:prstGeom prst="rect">
            <a:avLst/>
          </a:prstGeom>
        </p:spPr>
      </p:pic>
      <p:sp>
        <p:nvSpPr>
          <p:cNvPr id="24" name="ops OPS-04 meta"/>
          <p:cNvSpPr txBox="1"/>
          <p:nvPr/>
        </p:nvSpPr>
        <p:spPr>
          <a:xfrm>
            <a:off x="7178040" y="3136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OPS-04 · This quarter</a:t>
            </a:r>
            <a:endParaRPr lang="en-US" sz="1100" dirty="0"/>
          </a:p>
        </p:txBody>
      </p:sp>
      <p:sp>
        <p:nvSpPr>
          <p:cNvPr id="25" name="ops OPS-04 title"/>
          <p:cNvSpPr txBox="1"/>
          <p:nvPr/>
        </p:nvSpPr>
        <p:spPr>
          <a:xfrm>
            <a:off x="7178040" y="3383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routing rules</a:t>
            </a:r>
            <a:endParaRPr lang="en-US" sz="1500" dirty="0"/>
          </a:p>
        </p:txBody>
      </p:sp>
      <p:sp>
        <p:nvSpPr>
          <p:cNvPr id="26" name="ops OPS-04 owner"/>
          <p:cNvSpPr txBox="1"/>
          <p:nvPr/>
        </p:nvSpPr>
        <p:spPr>
          <a:xfrm>
            <a:off x="71780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scheduling team + account teams</a:t>
            </a:r>
            <a:endParaRPr lang="en-US" sz="1200" dirty="0"/>
          </a:p>
        </p:txBody>
      </p:sp>
      <p:sp>
        <p:nvSpPr>
          <p:cNvPr id="27" name="ops card OPS-05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8" name="ops OPS-05 circle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29" name="ops OPS-0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5115154"/>
            <a:ext cx="285293" cy="285293"/>
          </a:xfrm>
          <a:prstGeom prst="rect">
            <a:avLst/>
          </a:prstGeom>
        </p:spPr>
      </p:pic>
      <p:sp>
        <p:nvSpPr>
          <p:cNvPr id="30" name="ops OPS-05 meta"/>
          <p:cNvSpPr txBox="1"/>
          <p:nvPr/>
        </p:nvSpPr>
        <p:spPr>
          <a:xfrm>
            <a:off x="155448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OPS-05 · Next 1–2 releases</a:t>
            </a:r>
            <a:endParaRPr lang="en-US" sz="1100" dirty="0"/>
          </a:p>
        </p:txBody>
      </p:sp>
      <p:sp>
        <p:nvSpPr>
          <p:cNvPr id="31" name="ops OPS-05 title"/>
          <p:cNvSpPr txBox="1"/>
          <p:nvPr/>
        </p:nvSpPr>
        <p:spPr>
          <a:xfrm>
            <a:off x="1554480" y="4983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reviews with named employers</a:t>
            </a:r>
            <a:endParaRPr lang="en-US" sz="1500" dirty="0"/>
          </a:p>
        </p:txBody>
      </p:sp>
      <p:sp>
        <p:nvSpPr>
          <p:cNvPr id="32" name="ops OPS-05 owner"/>
          <p:cNvSpPr txBox="1"/>
          <p:nvPr/>
        </p:nvSpPr>
        <p:spPr>
          <a:xfrm>
            <a:off x="1554480" y="5577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 + employer transport desks</a:t>
            </a:r>
            <a:endParaRPr lang="en-US" sz="1200" dirty="0"/>
          </a:p>
        </p:txBody>
      </p:sp>
      <p:sp>
        <p:nvSpPr>
          <p:cNvPr id="33" name="safety note"/>
          <p:cNvSpPr txBox="1"/>
          <p:nvPr/>
        </p:nvSpPr>
        <p:spPr>
          <a:xfrm>
            <a:off x="6172200" y="470916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reviews in 365 days raise a safety concern (1 in the last 30 days);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praise safety.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adds up to: a directional rating range</a:t>
            </a:r>
            <a:endParaRPr lang="en-US" sz="3000" dirty="0"/>
          </a:p>
        </p:txBody>
      </p:sp>
      <p:graphicFrame>
        <p:nvGraphicFramePr>
          <p:cNvPr id="3" name="scenario chart" descr=""/>
          <p:cNvGraphicFramePr/>
          <p:nvPr/>
        </p:nvGraphicFramePr>
        <p:xfrm>
          <a:off x="548640" y="132588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cenario card"/>
          <p:cNvSpPr/>
          <p:nvPr/>
        </p:nvSpPr>
        <p:spPr>
          <a:xfrm>
            <a:off x="8138160" y="1417320"/>
            <a:ext cx="3474720" cy="4663440"/>
          </a:xfrm>
          <a:prstGeom prst="roundRect">
            <a:avLst>
              <a:gd name="adj" fmla="val 315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plan share"/>
          <p:cNvSpPr txBox="1"/>
          <p:nvPr/>
        </p:nvSpPr>
        <p:spPr>
          <a:xfrm>
            <a:off x="8412480" y="1645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6" name="plan share text"/>
          <p:cNvSpPr txBox="1"/>
          <p:nvPr/>
        </p:nvSpPr>
        <p:spPr>
          <a:xfrm>
            <a:off x="8412480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1–2★ written reviews in the last year name an issue that this week's and the next releases' product tickets target</a:t>
            </a:r>
            <a:endParaRPr lang="en-US" sz="1400" dirty="0"/>
          </a:p>
        </p:txBody>
      </p:sp>
      <p:sp>
        <p:nvSpPr>
          <p:cNvPr id="7" name="scenario caveat"/>
          <p:cNvSpPr txBox="1"/>
          <p:nvPr/>
        </p:nvSpPr>
        <p:spPr>
          <a:xfrm>
            <a:off x="8412480" y="3931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not a forecast: keeps today's mix within 1–2★ and 3–5★; Google's rating is recency-weighted and its counts are rescaled.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know: every fix has a baseline the monitor tracks</a:t>
            </a:r>
            <a:endParaRPr lang="en-US" sz="3000" dirty="0"/>
          </a:p>
        </p:txBody>
      </p:sp>
      <p:graphicFrame>
        <p:nvGraphicFramePr>
          <p:cNvPr id="11" name="fix track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at or below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MIS-04 Fix the "not downloaded from Play Store" false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'Not downloaded from Play Store'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 (8/207)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MIS-05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Crash, blank screen or won't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 (27/207)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MIS-06 Sign-in that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OTP not received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 (11/207)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MIS-07 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use / new UI worse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 (15/207)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MIS-08 Ask happy riders for a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trip rating /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 (6/207)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MIS-09 Find out why notifications are missing or 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missing, late or spammy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 (7/207)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MIS-10 Live tracking you can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 location wrong or lagging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 (12/207)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easure 1 circle"/>
          <p:cNvSpPr/>
          <p:nvPr/>
        </p:nvSpPr>
        <p:spPr>
          <a:xfrm>
            <a:off x="8503920" y="1371600"/>
            <a:ext cx="548640" cy="54864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5" name="meas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594" y="1503274"/>
            <a:ext cx="285293" cy="285293"/>
          </a:xfrm>
          <a:prstGeom prst="rect">
            <a:avLst/>
          </a:prstGeom>
        </p:spPr>
      </p:pic>
      <p:sp>
        <p:nvSpPr>
          <p:cNvPr id="6" name="measure 1 title"/>
          <p:cNvSpPr txBox="1"/>
          <p:nvPr/>
        </p:nvSpPr>
        <p:spPr>
          <a:xfrm>
            <a:off x="9189720" y="1353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 2 hours</a:t>
            </a:r>
            <a:endParaRPr lang="en-US" sz="1500" dirty="0"/>
          </a:p>
        </p:txBody>
      </p:sp>
      <p:sp>
        <p:nvSpPr>
          <p:cNvPr id="7" name="measure 1 text"/>
          <p:cNvSpPr txBox="1"/>
          <p:nvPr/>
        </p:nvSpPr>
        <p:spPr>
          <a:xfrm>
            <a:off x="918972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reviews tagged, every number recomputed, site republished.</a:t>
            </a:r>
            <a:endParaRPr lang="en-US" sz="1200" dirty="0"/>
          </a:p>
        </p:txBody>
      </p:sp>
      <p:sp>
        <p:nvSpPr>
          <p:cNvPr id="8" name="measure 2 circle"/>
          <p:cNvSpPr/>
          <p:nvPr/>
        </p:nvSpPr>
        <p:spPr>
          <a:xfrm>
            <a:off x="8503920" y="297180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9" name="meas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594" y="3103474"/>
            <a:ext cx="285293" cy="285293"/>
          </a:xfrm>
          <a:prstGeom prst="rect">
            <a:avLst/>
          </a:prstGeom>
        </p:spPr>
      </p:pic>
      <p:sp>
        <p:nvSpPr>
          <p:cNvPr id="10" name="measure 2 title"/>
          <p:cNvSpPr txBox="1"/>
          <p:nvPr/>
        </p:nvSpPr>
        <p:spPr>
          <a:xfrm>
            <a:off x="9189720" y="2953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to Slack, each once</a:t>
            </a:r>
            <a:endParaRPr lang="en-US" sz="1500" dirty="0"/>
          </a:p>
        </p:txBody>
      </p:sp>
      <p:sp>
        <p:nvSpPr>
          <p:cNvPr id="11" name="measure 2 text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review, emerging issue, flagged release, rating drop, stale data.</a:t>
            </a:r>
            <a:endParaRPr lang="en-US" sz="1200" dirty="0"/>
          </a:p>
        </p:txBody>
      </p:sp>
      <p:sp>
        <p:nvSpPr>
          <p:cNvPr id="12" name="measure 3 circle"/>
          <p:cNvSpPr/>
          <p:nvPr/>
        </p:nvSpPr>
        <p:spPr>
          <a:xfrm>
            <a:off x="8503920" y="4572000"/>
            <a:ext cx="548640" cy="54864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pic>
        <p:nvPicPr>
          <p:cNvPr id="13" name="meas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594" y="4703674"/>
            <a:ext cx="285293" cy="285293"/>
          </a:xfrm>
          <a:prstGeom prst="rect">
            <a:avLst/>
          </a:prstGeom>
        </p:spPr>
      </p:pic>
      <p:sp>
        <p:nvSpPr>
          <p:cNvPr id="14" name="measure 3 title"/>
          <p:cNvSpPr txBox="1"/>
          <p:nvPr/>
        </p:nvSpPr>
        <p:spPr>
          <a:xfrm>
            <a:off x="9189720" y="4553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= whole 95% CI below baseline</a:t>
            </a:r>
            <a:endParaRPr lang="en-US" sz="1500" dirty="0"/>
          </a:p>
        </p:txBody>
      </p:sp>
      <p:sp>
        <p:nvSpPr>
          <p:cNvPr id="15" name="measure 3 text"/>
          <p:cNvSpPr txBox="1"/>
          <p:nvPr/>
        </p:nvSpPr>
        <p:spPr>
          <a:xfrm>
            <a:off x="9189720" y="5120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about 205 1–2★ reviews per 90 days, only large drops show; internal metrics show the 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built, and how far to trust it</a:t>
            </a:r>
            <a:endParaRPr lang="en-US" sz="3000" dirty="0"/>
          </a:p>
        </p:txBody>
      </p:sp>
      <p:sp>
        <p:nvSpPr>
          <p:cNvPr id="3" name="built card 1"/>
          <p:cNvSpPr/>
          <p:nvPr/>
        </p:nvSpPr>
        <p:spPr>
          <a:xfrm>
            <a:off x="548640" y="1371600"/>
            <a:ext cx="2633472" cy="283464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built 1 circle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pic>
        <p:nvPicPr>
          <p:cNvPr id="5" name="buil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6" name="built 1 value"/>
          <p:cNvSpPr txBox="1"/>
          <p:nvPr/>
        </p:nvSpPr>
        <p:spPr>
          <a:xfrm>
            <a:off x="77724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24,317</a:t>
            </a:r>
            <a:endParaRPr lang="en-US" sz="3600" dirty="0"/>
          </a:p>
        </p:txBody>
      </p:sp>
      <p:sp>
        <p:nvSpPr>
          <p:cNvPr id="7" name="built 1 label"/>
          <p:cNvSpPr txBox="1"/>
          <p:nvPr/>
        </p:nvSpPr>
        <p:spPr>
          <a:xfrm>
            <a:off x="777240" y="28803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Google Play reviews, Mar 2014 – 11 Oct 2026, plus 3 comparison apps</a:t>
            </a:r>
            <a:endParaRPr lang="en-US" sz="1300" dirty="0"/>
          </a:p>
        </p:txBody>
      </p:sp>
      <p:sp>
        <p:nvSpPr>
          <p:cNvPr id="8" name="built card 2"/>
          <p:cNvSpPr/>
          <p:nvPr/>
        </p:nvSpPr>
        <p:spPr>
          <a:xfrm>
            <a:off x="3364992" y="1371600"/>
            <a:ext cx="2633472" cy="283464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built 2 circle"/>
          <p:cNvSpPr/>
          <p:nvPr/>
        </p:nvSpPr>
        <p:spPr>
          <a:xfrm>
            <a:off x="3593592" y="160020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pic>
        <p:nvPicPr>
          <p:cNvPr id="10" name="buil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720901"/>
            <a:ext cx="261518" cy="261518"/>
          </a:xfrm>
          <a:prstGeom prst="rect">
            <a:avLst/>
          </a:prstGeom>
        </p:spPr>
      </p:pic>
      <p:sp>
        <p:nvSpPr>
          <p:cNvPr id="11" name="built 2 value"/>
          <p:cNvSpPr txBox="1"/>
          <p:nvPr/>
        </p:nvSpPr>
        <p:spPr>
          <a:xfrm>
            <a:off x="3593592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600" dirty="0"/>
          </a:p>
        </p:txBody>
      </p:sp>
      <p:sp>
        <p:nvSpPr>
          <p:cNvPr id="12" name="built 2 label"/>
          <p:cNvSpPr txBox="1"/>
          <p:nvPr/>
        </p:nvSpPr>
        <p:spPr>
          <a:xfrm>
            <a:off x="3593592" y="28803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along the employee journey, each with a fixed owner and root cause</a:t>
            </a:r>
            <a:endParaRPr lang="en-US" sz="1300" dirty="0"/>
          </a:p>
        </p:txBody>
      </p:sp>
      <p:sp>
        <p:nvSpPr>
          <p:cNvPr id="13" name="built card 3"/>
          <p:cNvSpPr/>
          <p:nvPr/>
        </p:nvSpPr>
        <p:spPr>
          <a:xfrm>
            <a:off x="6181344" y="1371600"/>
            <a:ext cx="2633472" cy="283464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built 3 circle"/>
          <p:cNvSpPr/>
          <p:nvPr/>
        </p:nvSpPr>
        <p:spPr>
          <a:xfrm>
            <a:off x="6409944" y="1600200"/>
            <a:ext cx="502920" cy="502920"/>
          </a:xfrm>
          <a:prstGeom prst="ellipse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pic>
        <p:nvPicPr>
          <p:cNvPr id="15" name="buil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720901"/>
            <a:ext cx="261518" cy="261518"/>
          </a:xfrm>
          <a:prstGeom prst="rect">
            <a:avLst/>
          </a:prstGeom>
        </p:spPr>
      </p:pic>
      <p:sp>
        <p:nvSpPr>
          <p:cNvPr id="16" name="built 3 value"/>
          <p:cNvSpPr txBox="1"/>
          <p:nvPr/>
        </p:nvSpPr>
        <p:spPr>
          <a:xfrm>
            <a:off x="6409944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600" dirty="0"/>
          </a:p>
        </p:txBody>
      </p:sp>
      <p:sp>
        <p:nvSpPr>
          <p:cNvPr id="17" name="built 3 label"/>
          <p:cNvSpPr txBox="1"/>
          <p:nvPr/>
        </p:nvSpPr>
        <p:spPr>
          <a:xfrm>
            <a:off x="6409944" y="28803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issue correct on 120 held-out labelled reviews (95% CI 95%–100%)</a:t>
            </a:r>
            <a:endParaRPr lang="en-US" sz="1300" dirty="0"/>
          </a:p>
        </p:txBody>
      </p:sp>
      <p:sp>
        <p:nvSpPr>
          <p:cNvPr id="18" name="built card 4"/>
          <p:cNvSpPr/>
          <p:nvPr/>
        </p:nvSpPr>
        <p:spPr>
          <a:xfrm>
            <a:off x="8997696" y="1371600"/>
            <a:ext cx="2633472" cy="283464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built 4 circle"/>
          <p:cNvSpPr/>
          <p:nvPr/>
        </p:nvSpPr>
        <p:spPr>
          <a:xfrm>
            <a:off x="9226296" y="1600200"/>
            <a:ext cx="502920" cy="502920"/>
          </a:xfrm>
          <a:prstGeom prst="ellipse">
            <a:avLst/>
          </a:prstGeom>
          <a:solidFill>
            <a:srgbClr val="22304D"/>
          </a:solidFill>
          <a:ln w="12700">
            <a:solidFill>
              <a:srgbClr val="22304D"/>
            </a:solidFill>
            <a:prstDash val="solid"/>
          </a:ln>
        </p:spPr>
      </p:sp>
      <p:pic>
        <p:nvPicPr>
          <p:cNvPr id="20" name="buil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997" y="1720901"/>
            <a:ext cx="261518" cy="261518"/>
          </a:xfrm>
          <a:prstGeom prst="rect">
            <a:avLst/>
          </a:prstGeom>
        </p:spPr>
      </p:pic>
      <p:sp>
        <p:nvSpPr>
          <p:cNvPr id="21" name="built 4 value"/>
          <p:cNvSpPr txBox="1"/>
          <p:nvPr/>
        </p:nvSpPr>
        <p:spPr>
          <a:xfrm>
            <a:off x="9226296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600" dirty="0"/>
          </a:p>
        </p:txBody>
      </p:sp>
      <p:sp>
        <p:nvSpPr>
          <p:cNvPr id="22" name="built 4 label"/>
          <p:cNvSpPr txBox="1"/>
          <p:nvPr/>
        </p:nvSpPr>
        <p:spPr>
          <a:xfrm>
            <a:off x="9226296" y="28803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refreshes; plan text kept apart from the numbers, which are recomputed each time</a:t>
            </a:r>
            <a:endParaRPr lang="en-US" sz="1300" dirty="0"/>
          </a:p>
        </p:txBody>
      </p:sp>
      <p:sp>
        <p:nvSpPr>
          <p:cNvPr id="23" name="method summary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nemotron-3-ultra-550b-a55b on NVIDIA's free NIM tier, chosen by measured accuracy; tag precision 99%, recall 90%, 0 of 2 safety reviews missed.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 has its n and a 95% Wilson interval; a change counts only at p &lt; 0.05; releases are Bonferroni-corrected.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pandas, SQLite, google-play-scraper, NVIDIA NIM, Jinja2 with hand-built SVG charts, openpyxl, Typer; pytest, ruff, mypy; GitHub Actions and Pages; Slack webhooks; AI assistance for code and labelling.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confirm with internal data, then ship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reviews are about 21% of ratings: they show what goes wrong, not how many trips go wrong.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size with Android vitals (crash and ANR per release and device), OTP gateway logs (delivery per operator) and trip data (pickup delays, GPS gaps).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site, backlog (Jira CSV, Excel) and reply playbook: https://roshankarthik.github.io/moveinsync-ratings/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y Rating">
  <a:themeElements>
    <a:clrScheme name="Play Rating">
      <a:dk1>
        <a:srgbClr val="14213D"/>
      </a:dk1>
      <a:lt1>
        <a:srgbClr val="FFFFFF"/>
      </a:lt1>
      <a:dk2>
        <a:srgbClr val="3D4A5C"/>
      </a:dk2>
      <a:lt2>
        <a:srgbClr val="F1F4F8"/>
      </a:lt2>
      <a:accent1>
        <a:srgbClr val="F5A524"/>
      </a:accent1>
      <a:accent2>
        <a:srgbClr val="1F8A70"/>
      </a:accent2>
      <a:accent3>
        <a:srgbClr val="C8463D"/>
      </a:accent3>
      <a:accent4>
        <a:srgbClr val="4A6FA5"/>
      </a:accent4>
      <a:accent5>
        <a:srgbClr val="8A94A6"/>
      </a:accent5>
      <a:accent6>
        <a:srgbClr val="22304D"/>
      </a:accent6>
      <a:hlink>
        <a:srgbClr val="4A6FA5"/>
      </a:hlink>
      <a:folHlink>
        <a:srgbClr val="6B7A99"/>
      </a:folHlink>
    </a:clrScheme>
    <a:fontScheme name="Play Ra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fix first to raise the Play Store rating</dc:title>
  <dc:subject>MoveInSync (employee app), Play Store reviews to 11 Oct 2026</dc:subject>
  <dc:creator>Roshan Karthik</dc:creator>
  <cp:lastModifiedBy>Roshan Karthik</cp:lastModifiedBy>
  <cp:revision>1</cp:revision>
  <dcterms:created xsi:type="dcterms:W3CDTF">2026-10-12T23:08:14Z</dcterms:created>
  <dcterms:modified xsi:type="dcterms:W3CDTF">2026-10-12T23:08:14Z</dcterms:modified>
</cp:coreProperties>
</file>